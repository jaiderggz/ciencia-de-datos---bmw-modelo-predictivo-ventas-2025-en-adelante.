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webextensions/webextension2.xml" ContentType="application/vnd.ms-office.webextension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61" r:id="rId3"/>
    <p:sldId id="262" r:id="rId4"/>
    <p:sldId id="263" r:id="rId5"/>
    <p:sldId id="264" r:id="rId6"/>
    <p:sldId id="266" r:id="rId7"/>
    <p:sldId id="290" r:id="rId8"/>
    <p:sldId id="270" r:id="rId9"/>
    <p:sldId id="271" r:id="rId10"/>
    <p:sldId id="291" r:id="rId11"/>
  </p:sldIdLst>
  <p:sldSz cx="9144000" cy="5143500" type="screen16x9"/>
  <p:notesSz cx="6858000" cy="9144000"/>
  <p:embeddedFontLst>
    <p:embeddedFont>
      <p:font typeface="Alata" panose="020B0604020202020204" charset="0"/>
      <p:regular r:id="rId13"/>
    </p:embeddedFont>
    <p:embeddedFont>
      <p:font typeface="Assistant" pitchFamily="2" charset="-79"/>
      <p:regular r:id="rId14"/>
      <p:bold r:id="rId15"/>
    </p:embeddedFont>
    <p:embeddedFont>
      <p:font typeface="Maven Pro" panose="020B0604020202020204" charset="0"/>
      <p:regular r:id="rId16"/>
      <p:bold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03697F-2A31-4A0F-A21D-12A1E4C66370}">
  <a:tblStyle styleId="{DD03697F-2A31-4A0F-A21D-12A1E4C663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219" name="Google Shape;219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288" name="Google Shape;288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479cb4777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297" name="Google Shape;297;g1479cb4777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305" name="Google Shape;305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479cb4777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342" name="Google Shape;342;g1479cb4777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479cb4777d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374" name="Google Shape;374;g1479cb4777d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40BC9467-BEAA-A75B-B51A-5949230F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479cb4777d_1_23:notes">
            <a:extLst>
              <a:ext uri="{FF2B5EF4-FFF2-40B4-BE49-F238E27FC236}">
                <a16:creationId xmlns:a16="http://schemas.microsoft.com/office/drawing/2014/main" id="{B2A105A8-F550-D313-D6FF-D2AF8760E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374" name="Google Shape;374;g1479cb4777d_1_23:notes">
            <a:extLst>
              <a:ext uri="{FF2B5EF4-FFF2-40B4-BE49-F238E27FC236}">
                <a16:creationId xmlns:a16="http://schemas.microsoft.com/office/drawing/2014/main" id="{EB88E08A-5785-2238-D4F0-C1BC32975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622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479cb4777d_1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506" name="Google Shape;506;g1479cb4777d_1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479cb4777d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561" name="Google Shape;561;g1479cb4777d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6FEED494-677D-82A4-1790-230C8E909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479cb4777d_1_254:notes">
            <a:extLst>
              <a:ext uri="{FF2B5EF4-FFF2-40B4-BE49-F238E27FC236}">
                <a16:creationId xmlns:a16="http://schemas.microsoft.com/office/drawing/2014/main" id="{A20C4B56-BF7D-03E9-61C6-D9BA816B8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  <p:sp>
        <p:nvSpPr>
          <p:cNvPr id="561" name="Google Shape;561;g1479cb4777d_1_254:notes">
            <a:extLst>
              <a:ext uri="{FF2B5EF4-FFF2-40B4-BE49-F238E27FC236}">
                <a16:creationId xmlns:a16="http://schemas.microsoft.com/office/drawing/2014/main" id="{75370CAD-20AE-26A6-ECA9-27D8850768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9497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630000"/>
            <a:ext cx="9144000" cy="388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1392513"/>
            <a:ext cx="43182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3591301"/>
            <a:ext cx="43182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372950" y="627150"/>
            <a:ext cx="3771000" cy="388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315550"/>
            <a:ext cx="9144000" cy="45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8203050" y="94600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4841170" y="3230763"/>
            <a:ext cx="3442500" cy="8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860325" y="3230763"/>
            <a:ext cx="3441900" cy="8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860325" y="2745300"/>
            <a:ext cx="34419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4841536" y="2745300"/>
            <a:ext cx="34419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315550"/>
            <a:ext cx="9144000" cy="45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720000" y="1840350"/>
            <a:ext cx="3203400" cy="25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⬩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20000" y="519654"/>
            <a:ext cx="3203400" cy="118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>
            <a:spLocks noGrp="1"/>
          </p:cNvSpPr>
          <p:nvPr>
            <p:ph type="pic" idx="2"/>
          </p:nvPr>
        </p:nvSpPr>
        <p:spPr>
          <a:xfrm>
            <a:off x="5381400" y="315550"/>
            <a:ext cx="3762600" cy="4512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0" y="630000"/>
            <a:ext cx="9144000" cy="388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4155275" y="2444238"/>
            <a:ext cx="4280700" cy="11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4155298" y="1605463"/>
            <a:ext cx="4280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47" name="Google Shape;47;p9"/>
          <p:cNvSpPr>
            <a:spLocks noGrp="1"/>
          </p:cNvSpPr>
          <p:nvPr>
            <p:ph type="pic" idx="2"/>
          </p:nvPr>
        </p:nvSpPr>
        <p:spPr>
          <a:xfrm>
            <a:off x="0" y="627150"/>
            <a:ext cx="3771000" cy="388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0" y="315550"/>
            <a:ext cx="9144000" cy="45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904850" y="3047400"/>
            <a:ext cx="31317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⬩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8203050" y="4606900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2"/>
          </p:nvPr>
        </p:nvSpPr>
        <p:spPr>
          <a:xfrm>
            <a:off x="904861" y="2564400"/>
            <a:ext cx="31317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Maven Pro"/>
              <a:buNone/>
              <a:defRPr sz="2200"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3"/>
          </p:nvPr>
        </p:nvSpPr>
        <p:spPr>
          <a:xfrm>
            <a:off x="4697199" y="3047400"/>
            <a:ext cx="31317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⬩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4"/>
          </p:nvPr>
        </p:nvSpPr>
        <p:spPr>
          <a:xfrm>
            <a:off x="4697208" y="2564400"/>
            <a:ext cx="31317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aven Pro"/>
              <a:buNone/>
              <a:defRPr sz="2200"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0" y="315550"/>
            <a:ext cx="9144000" cy="45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720000" y="5180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1116125" y="3217873"/>
            <a:ext cx="20181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2"/>
          </p:nvPr>
        </p:nvSpPr>
        <p:spPr>
          <a:xfrm>
            <a:off x="3562974" y="3217873"/>
            <a:ext cx="20181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3"/>
          </p:nvPr>
        </p:nvSpPr>
        <p:spPr>
          <a:xfrm>
            <a:off x="6009822" y="3217873"/>
            <a:ext cx="20181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4"/>
          </p:nvPr>
        </p:nvSpPr>
        <p:spPr>
          <a:xfrm>
            <a:off x="1116125" y="2668284"/>
            <a:ext cx="2018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5"/>
          </p:nvPr>
        </p:nvSpPr>
        <p:spPr>
          <a:xfrm>
            <a:off x="3562974" y="2668284"/>
            <a:ext cx="2018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6"/>
          </p:nvPr>
        </p:nvSpPr>
        <p:spPr>
          <a:xfrm>
            <a:off x="6009822" y="2668284"/>
            <a:ext cx="2018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8203050" y="4606900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>
            <a:off x="0" y="315550"/>
            <a:ext cx="9144000" cy="45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1"/>
          </p:nvPr>
        </p:nvSpPr>
        <p:spPr>
          <a:xfrm>
            <a:off x="2035350" y="1760462"/>
            <a:ext cx="22488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2"/>
          </p:nvPr>
        </p:nvSpPr>
        <p:spPr>
          <a:xfrm>
            <a:off x="2035350" y="3182437"/>
            <a:ext cx="22488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3"/>
          </p:nvPr>
        </p:nvSpPr>
        <p:spPr>
          <a:xfrm>
            <a:off x="5754475" y="1760462"/>
            <a:ext cx="22488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4"/>
          </p:nvPr>
        </p:nvSpPr>
        <p:spPr>
          <a:xfrm>
            <a:off x="5754475" y="3182437"/>
            <a:ext cx="22488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720000" y="522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ubTitle" idx="5"/>
          </p:nvPr>
        </p:nvSpPr>
        <p:spPr>
          <a:xfrm>
            <a:off x="2035350" y="2167021"/>
            <a:ext cx="22488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subTitle" idx="6"/>
          </p:nvPr>
        </p:nvSpPr>
        <p:spPr>
          <a:xfrm>
            <a:off x="5754474" y="2167021"/>
            <a:ext cx="22488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ubTitle" idx="7"/>
          </p:nvPr>
        </p:nvSpPr>
        <p:spPr>
          <a:xfrm>
            <a:off x="2035350" y="3589139"/>
            <a:ext cx="22488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8"/>
          </p:nvPr>
        </p:nvSpPr>
        <p:spPr>
          <a:xfrm>
            <a:off x="5754474" y="3589139"/>
            <a:ext cx="22488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499050" y="94600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/>
          <p:nvPr/>
        </p:nvSpPr>
        <p:spPr>
          <a:xfrm>
            <a:off x="0" y="315550"/>
            <a:ext cx="9144000" cy="45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499050" y="94600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/>
          <p:nvPr/>
        </p:nvSpPr>
        <p:spPr>
          <a:xfrm>
            <a:off x="0" y="315550"/>
            <a:ext cx="9144000" cy="45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8203050" y="94600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/>
          <p:nvPr/>
        </p:nvSpPr>
        <p:spPr>
          <a:xfrm>
            <a:off x="0" y="315550"/>
            <a:ext cx="9144000" cy="45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1"/>
          <p:cNvSpPr/>
          <p:nvPr/>
        </p:nvSpPr>
        <p:spPr>
          <a:xfrm>
            <a:off x="499050" y="4606900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ven Pro"/>
              <a:buNone/>
              <a:defRPr sz="3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42975"/>
            <a:ext cx="7704000" cy="3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64" r:id="rId6"/>
    <p:sldLayoutId id="2147483666" r:id="rId7"/>
    <p:sldLayoutId id="2147483668" r:id="rId8"/>
    <p:sldLayoutId id="2147483673" r:id="rId9"/>
    <p:sldLayoutId id="2147483676" r:id="rId10"/>
    <p:sldLayoutId id="214748367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microsoft.com/office/2011/relationships/webextension" Target="../webextensions/webextension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2674" r="12558"/>
          <a:stretch/>
        </p:blipFill>
        <p:spPr>
          <a:xfrm>
            <a:off x="5372950" y="627150"/>
            <a:ext cx="3770998" cy="3883500"/>
          </a:xfrm>
          <a:prstGeom prst="rect">
            <a:avLst/>
          </a:prstGeom>
        </p:spPr>
      </p:pic>
      <p:sp>
        <p:nvSpPr>
          <p:cNvPr id="223" name="Google Shape;223;p35"/>
          <p:cNvSpPr txBox="1">
            <a:spLocks noGrp="1"/>
          </p:cNvSpPr>
          <p:nvPr>
            <p:ph type="ctrTitle"/>
          </p:nvPr>
        </p:nvSpPr>
        <p:spPr>
          <a:xfrm>
            <a:off x="720000" y="850975"/>
            <a:ext cx="43182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Modelado predictivo para vehiculos </a:t>
            </a:r>
            <a:r>
              <a:rPr lang="en" b="1" dirty="0">
                <a:solidFill>
                  <a:schemeClr val="lt1"/>
                </a:solidFill>
              </a:rPr>
              <a:t>BMW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224" name="Google Shape;224;p35"/>
          <p:cNvSpPr txBox="1">
            <a:spLocks noGrp="1"/>
          </p:cNvSpPr>
          <p:nvPr>
            <p:ph type="subTitle" idx="1"/>
          </p:nvPr>
        </p:nvSpPr>
        <p:spPr>
          <a:xfrm>
            <a:off x="720000" y="2974774"/>
            <a:ext cx="43182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Jaider Orlando Gonzalez Gonzalez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Thomas Javier Mora Clavijo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Yeimy Daniela Pardo Mora</a:t>
            </a:r>
            <a:endParaRPr dirty="0"/>
          </a:p>
        </p:txBody>
      </p:sp>
      <p:sp>
        <p:nvSpPr>
          <p:cNvPr id="225" name="Google Shape;225;p35"/>
          <p:cNvSpPr/>
          <p:nvPr/>
        </p:nvSpPr>
        <p:spPr>
          <a:xfrm>
            <a:off x="5143425" y="409075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0057" r="25221"/>
          <a:stretch/>
        </p:blipFill>
        <p:spPr>
          <a:xfrm>
            <a:off x="0" y="627150"/>
            <a:ext cx="3770998" cy="3883500"/>
          </a:xfrm>
          <a:prstGeom prst="rect">
            <a:avLst/>
          </a:prstGeom>
        </p:spPr>
      </p:pic>
      <p:sp>
        <p:nvSpPr>
          <p:cNvPr id="291" name="Google Shape;291;p40"/>
          <p:cNvSpPr/>
          <p:nvPr/>
        </p:nvSpPr>
        <p:spPr>
          <a:xfrm>
            <a:off x="3544625" y="409075"/>
            <a:ext cx="441900" cy="441900"/>
          </a:xfrm>
          <a:prstGeom prst="diamond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subTitle" idx="1"/>
          </p:nvPr>
        </p:nvSpPr>
        <p:spPr>
          <a:xfrm>
            <a:off x="4217644" y="1404600"/>
            <a:ext cx="4280700" cy="11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s-MX" dirty="0"/>
              <a:t>Este proyecto desarrolla un proceso completo de análisis y modelado predictivo utilizando un </a:t>
            </a:r>
            <a:r>
              <a:rPr lang="es-MX" dirty="0" err="1"/>
              <a:t>dataset</a:t>
            </a:r>
            <a:r>
              <a:rPr lang="es-MX" dirty="0"/>
              <a:t> de vehículos BMW.</a:t>
            </a:r>
          </a:p>
          <a:p>
            <a:pPr marL="0" lvl="0" indent="0">
              <a:spcAft>
                <a:spcPts val="1600"/>
              </a:spcAft>
            </a:pPr>
            <a:r>
              <a:rPr lang="es-MX" dirty="0"/>
              <a:t>El objetivo principal del modelado predictivo es crear un modelo capaz de </a:t>
            </a:r>
            <a:r>
              <a:rPr lang="es-MX" b="1" dirty="0"/>
              <a:t>identificar patrones en los datos y predecir con precisión la categoría del vehículo</a:t>
            </a:r>
            <a:r>
              <a:rPr lang="es-MX" dirty="0"/>
              <a:t>, según la variable objetivo definida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>
            <a:spLocks noGrp="1"/>
          </p:cNvSpPr>
          <p:nvPr>
            <p:ph type="title"/>
          </p:nvPr>
        </p:nvSpPr>
        <p:spPr>
          <a:xfrm>
            <a:off x="367499" y="-319865"/>
            <a:ext cx="3203400" cy="118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b="1" dirty="0">
                <a:solidFill>
                  <a:schemeClr val="lt1"/>
                </a:solidFill>
              </a:rPr>
              <a:t>Data</a:t>
            </a:r>
            <a:r>
              <a:rPr lang="es-CO" b="1" dirty="0">
                <a:solidFill>
                  <a:schemeClr val="tx1"/>
                </a:solidFill>
              </a:rPr>
              <a:t>sets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301" name="Google Shape;301;p4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0031" b="10039"/>
          <a:stretch/>
        </p:blipFill>
        <p:spPr>
          <a:xfrm>
            <a:off x="7410787" y="270535"/>
            <a:ext cx="3762599" cy="4512302"/>
          </a:xfrm>
          <a:prstGeom prst="rect">
            <a:avLst/>
          </a:prstGeom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Complemento 7" title="Microsoft Power BI">
                <a:extLst>
                  <a:ext uri="{FF2B5EF4-FFF2-40B4-BE49-F238E27FC236}">
                    <a16:creationId xmlns:a16="http://schemas.microsoft.com/office/drawing/2014/main" id="{2DCEFE27-CBC2-25FE-1788-44A7058676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8898492"/>
                  </p:ext>
                </p:extLst>
              </p:nvPr>
            </p:nvGraphicFramePr>
            <p:xfrm>
              <a:off x="367499" y="860935"/>
              <a:ext cx="6749328" cy="382993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8" name="Complemento 7" title="Microsoft Power BI">
                <a:extLst>
                  <a:ext uri="{FF2B5EF4-FFF2-40B4-BE49-F238E27FC236}">
                    <a16:creationId xmlns:a16="http://schemas.microsoft.com/office/drawing/2014/main" id="{2DCEFE27-CBC2-25FE-1788-44A7058676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499" y="860935"/>
                <a:ext cx="6749328" cy="382993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Patrones Identificados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7C31DA9-B63B-9A93-9FC4-C6CCE28DB75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89100" y="1525598"/>
            <a:ext cx="5765800" cy="209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1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vehículos con mayor precio, menor kilometraje y años más recientes tienden a clasificarse como High.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1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modelos con alto kilometraje, años antiguos y precios significativamente bajos caen en la categoría Low.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1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evidencia una tendencia clara, precio y año del vehículo son las variables más influyentes.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1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variable Low/High presenta desbalance, lo cual justificó el uso de SMOTE y métricas avanzadas (F1, </a:t>
            </a:r>
            <a:r>
              <a:rPr kumimoji="0" lang="es-CO" altLang="es-CO" sz="11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es-CO" altLang="es-CO" sz="11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PR-AUC).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720000" y="5180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Preparacion del Modelo 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348" name="Google Shape;348;p43"/>
          <p:cNvSpPr txBox="1">
            <a:spLocks noGrp="1"/>
          </p:cNvSpPr>
          <p:nvPr>
            <p:ph type="subTitle" idx="1"/>
          </p:nvPr>
        </p:nvSpPr>
        <p:spPr>
          <a:xfrm>
            <a:off x="394069" y="1803968"/>
            <a:ext cx="2945613" cy="22563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AutoNum type="arabicPeriod"/>
            </a:pPr>
            <a:r>
              <a:rPr lang="es-MX" sz="1200" b="1" dirty="0"/>
              <a:t>Carga y separación de los datos</a:t>
            </a:r>
          </a:p>
          <a:p>
            <a:pPr marL="139700" indent="0" algn="l"/>
            <a:endParaRPr lang="es-MX" sz="1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200" dirty="0"/>
              <a:t>Archivo utilizado: processed.csv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sz="1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200" dirty="0"/>
              <a:t>Variable objetivo: </a:t>
            </a:r>
            <a:r>
              <a:rPr lang="es-MX" sz="1200" b="1" dirty="0" err="1"/>
              <a:t>Sales_Classification</a:t>
            </a:r>
            <a:endParaRPr lang="es-MX" sz="1200" dirty="0"/>
          </a:p>
          <a:p>
            <a:pPr marL="139700" indent="0" algn="l"/>
            <a:r>
              <a:rPr lang="es-MX" sz="1200" dirty="0"/>
              <a:t>Conversión a formato numérico: </a:t>
            </a:r>
            <a:r>
              <a:rPr lang="es-MX" sz="1200" i="1" dirty="0"/>
              <a:t>Low = 0, High = 1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sz="1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200" dirty="0"/>
              <a:t>División del </a:t>
            </a:r>
            <a:r>
              <a:rPr lang="es-MX" sz="1200" dirty="0" err="1"/>
              <a:t>dataset</a:t>
            </a:r>
            <a:r>
              <a:rPr lang="es-MX" sz="1200" dirty="0"/>
              <a:t>:</a:t>
            </a:r>
          </a:p>
          <a:p>
            <a:pPr marL="139700" indent="0" algn="l"/>
            <a:r>
              <a:rPr lang="es-MX" sz="1200" b="1" dirty="0"/>
              <a:t>70% entrenamiento</a:t>
            </a:r>
            <a:r>
              <a:rPr lang="es-MX" sz="1200" dirty="0"/>
              <a:t>, </a:t>
            </a:r>
            <a:r>
              <a:rPr lang="es-MX" sz="1200" b="1" dirty="0"/>
              <a:t>30% test</a:t>
            </a:r>
            <a:endParaRPr lang="es-MX" sz="1200" dirty="0"/>
          </a:p>
        </p:txBody>
      </p:sp>
      <p:sp>
        <p:nvSpPr>
          <p:cNvPr id="12" name="Google Shape;348;p43">
            <a:extLst>
              <a:ext uri="{FF2B5EF4-FFF2-40B4-BE49-F238E27FC236}">
                <a16:creationId xmlns:a16="http://schemas.microsoft.com/office/drawing/2014/main" id="{5694C180-D0D2-631E-9C00-4DE190781BAA}"/>
              </a:ext>
            </a:extLst>
          </p:cNvPr>
          <p:cNvSpPr txBox="1">
            <a:spLocks/>
          </p:cNvSpPr>
          <p:nvPr/>
        </p:nvSpPr>
        <p:spPr>
          <a:xfrm>
            <a:off x="6108333" y="1772209"/>
            <a:ext cx="2945613" cy="225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algn="l"/>
            <a:r>
              <a:rPr lang="es-MX" sz="1200" b="1" dirty="0"/>
              <a:t>3. Manejo del desbalanceo de clases</a:t>
            </a:r>
          </a:p>
          <a:p>
            <a:pPr algn="l"/>
            <a:endParaRPr lang="es-MX" sz="1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200" dirty="0"/>
              <a:t>Método utilizado: </a:t>
            </a:r>
            <a:r>
              <a:rPr lang="es-MX" sz="1200" b="1" dirty="0"/>
              <a:t>SMOTEENN (SMOTE + </a:t>
            </a:r>
            <a:r>
              <a:rPr lang="es-MX" sz="1200" b="1" dirty="0" err="1"/>
              <a:t>Edited</a:t>
            </a:r>
            <a:r>
              <a:rPr lang="es-MX" sz="1200" b="1" dirty="0"/>
              <a:t> </a:t>
            </a:r>
            <a:r>
              <a:rPr lang="es-MX" sz="1200" b="1" dirty="0" err="1"/>
              <a:t>Nearest</a:t>
            </a:r>
            <a:r>
              <a:rPr lang="es-MX" sz="1200" b="1" dirty="0"/>
              <a:t> </a:t>
            </a:r>
            <a:r>
              <a:rPr lang="es-MX" sz="1200" b="1" dirty="0" err="1"/>
              <a:t>Neighbors</a:t>
            </a:r>
            <a:r>
              <a:rPr lang="es-MX" sz="1200" b="1" dirty="0"/>
              <a:t>)</a:t>
            </a:r>
            <a:endParaRPr lang="es-MX" sz="12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s-MX" sz="1200" dirty="0"/>
              <a:t>SMOTE → genera ejemplos sintéticos de la clase minoritaria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s-MX" sz="1200" dirty="0"/>
              <a:t>ENN → limpia ruido y elimina ejemplos mal clasificados</a:t>
            </a:r>
          </a:p>
        </p:txBody>
      </p:sp>
      <p:sp>
        <p:nvSpPr>
          <p:cNvPr id="13" name="Google Shape;348;p43">
            <a:extLst>
              <a:ext uri="{FF2B5EF4-FFF2-40B4-BE49-F238E27FC236}">
                <a16:creationId xmlns:a16="http://schemas.microsoft.com/office/drawing/2014/main" id="{14824EC7-1239-FE2E-EC76-EB69B19A1B17}"/>
              </a:ext>
            </a:extLst>
          </p:cNvPr>
          <p:cNvSpPr txBox="1">
            <a:spLocks/>
          </p:cNvSpPr>
          <p:nvPr/>
        </p:nvSpPr>
        <p:spPr>
          <a:xfrm>
            <a:off x="3162720" y="1803968"/>
            <a:ext cx="2945613" cy="225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algn="l"/>
            <a:r>
              <a:rPr lang="es-MX" sz="1200" b="1" dirty="0"/>
              <a:t>2. Preprocesamiento de características</a:t>
            </a:r>
          </a:p>
          <a:p>
            <a:pPr algn="l"/>
            <a:endParaRPr lang="es-MX" sz="1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200" dirty="0"/>
              <a:t>Columnas categóricas transformadas con </a:t>
            </a:r>
            <a:r>
              <a:rPr lang="es-MX" sz="1200" b="1" dirty="0" err="1"/>
              <a:t>OneHotEncoder</a:t>
            </a:r>
            <a:r>
              <a:rPr lang="es-MX" sz="1200" dirty="0"/>
              <a:t>: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s-MX" sz="1200" dirty="0" err="1"/>
              <a:t>Model</a:t>
            </a:r>
            <a:r>
              <a:rPr lang="es-MX" sz="1200" dirty="0"/>
              <a:t>, </a:t>
            </a:r>
            <a:r>
              <a:rPr lang="es-MX" sz="1200" dirty="0" err="1"/>
              <a:t>Region</a:t>
            </a:r>
            <a:r>
              <a:rPr lang="es-MX" sz="1200" dirty="0"/>
              <a:t>, Color, </a:t>
            </a:r>
            <a:r>
              <a:rPr lang="es-MX" sz="1200" dirty="0" err="1"/>
              <a:t>Fuel_Type</a:t>
            </a:r>
            <a:r>
              <a:rPr lang="es-MX" sz="1200" dirty="0"/>
              <a:t>, </a:t>
            </a:r>
            <a:r>
              <a:rPr lang="es-MX" sz="1200" dirty="0" err="1"/>
              <a:t>Transmission</a:t>
            </a:r>
            <a:endParaRPr lang="es-MX" sz="1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200" dirty="0"/>
              <a:t>Uso de </a:t>
            </a:r>
            <a:r>
              <a:rPr lang="es-MX" sz="1200" b="1" dirty="0" err="1"/>
              <a:t>ColumnTransformer</a:t>
            </a:r>
            <a:r>
              <a:rPr lang="es-MX" sz="1200" dirty="0"/>
              <a:t> para aplicar </a:t>
            </a:r>
            <a:r>
              <a:rPr lang="es-MX" sz="1200" dirty="0" err="1"/>
              <a:t>encoding</a:t>
            </a:r>
            <a:r>
              <a:rPr lang="es-MX" sz="1200" dirty="0"/>
              <a:t> solo a columnas categóricas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200" dirty="0"/>
              <a:t>Las variables restantes se pasan sin transformar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720000" y="522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Entrenamiento del </a:t>
            </a:r>
            <a:r>
              <a:rPr lang="en" dirty="0">
                <a:solidFill>
                  <a:schemeClr val="bg1"/>
                </a:solidFill>
              </a:rPr>
              <a:t>Modelo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52767E6B-0485-09DB-F32E-2B86B90FC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335" y="1368571"/>
            <a:ext cx="6443330" cy="2828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Utilizamos </a:t>
            </a:r>
            <a:r>
              <a:rPr kumimoji="0" lang="es-CO" altLang="es-CO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un algoritmo muy potente que permite al modelo identificar patrones complejos en los datos y aprender cómo diferentes características del vehículo influyen en la clasificación.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Ajustamos el modelo para que le dé más importancia a la clase menos frecuente, de manera que no ignore los vehículos de categoría “High” y pueda predecirlos con mayor precisión.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 el proceso se realizó dentro de un </a:t>
            </a:r>
            <a:r>
              <a:rPr kumimoji="0" lang="es-CO" altLang="es-CO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</a:t>
            </a: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que organiza automáticamente los pasos: primero prepara y transforma los datos, luego equilibra las clases usando SMOTEENN, y finalmente entrena el modelo, asegurando que todo sea ordenado, reproducible y sin errores.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BEAD7EA3-34F5-9FA5-A9BB-9B89F1B6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>
            <a:extLst>
              <a:ext uri="{FF2B5EF4-FFF2-40B4-BE49-F238E27FC236}">
                <a16:creationId xmlns:a16="http://schemas.microsoft.com/office/drawing/2014/main" id="{6A4DE3D6-12FE-FB1E-B15B-26E48B06A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2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Evaluación del </a:t>
            </a:r>
            <a:r>
              <a:rPr lang="en" dirty="0">
                <a:solidFill>
                  <a:schemeClr val="bg1"/>
                </a:solidFill>
              </a:rPr>
              <a:t>Modelo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A94B772-4E6C-8F2A-E062-8523FCD64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335" y="1422852"/>
            <a:ext cx="644333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Primero cargamos el modelo que ya habíamos entrenado y los datos de prueba, que son vehículos que el modelo no había visto antes. Esto permite medir su desempeño real.</a:t>
            </a:r>
            <a:br>
              <a:rPr lang="es-MX" sz="1200" dirty="0"/>
            </a:br>
            <a:endParaRPr lang="es-MX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Separamos la columna de la categoría real para comparar después con las predicciones y evitamos que el modelo “viera” la respuesta durante la predicción.</a:t>
            </a:r>
            <a:br>
              <a:rPr lang="es-MX" sz="1200" dirty="0"/>
            </a:br>
            <a:endParaRPr lang="es-MX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/>
              <a:t>Calculamos métricas como </a:t>
            </a:r>
            <a:r>
              <a:rPr lang="es-MX" sz="1200" dirty="0" err="1"/>
              <a:t>Accuracy</a:t>
            </a:r>
            <a:r>
              <a:rPr lang="es-MX" sz="1200" dirty="0"/>
              <a:t>, </a:t>
            </a:r>
            <a:r>
              <a:rPr lang="es-MX" sz="1200" dirty="0" err="1"/>
              <a:t>Precision</a:t>
            </a:r>
            <a:r>
              <a:rPr lang="es-MX" sz="1200" dirty="0"/>
              <a:t>, </a:t>
            </a:r>
            <a:r>
              <a:rPr lang="es-MX" sz="1200" dirty="0" err="1"/>
              <a:t>Recall</a:t>
            </a:r>
            <a:r>
              <a:rPr lang="es-MX" sz="1200" dirty="0"/>
              <a:t> y F1-Score para saber qué tan bien predice el modelo, especialmente la clase minoritaria.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C66357B-B045-97CB-3A28-D4447EA18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048" y="3242085"/>
            <a:ext cx="3054626" cy="162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>
            <a:spLocks noGrp="1"/>
          </p:cNvSpPr>
          <p:nvPr>
            <p:ph type="title"/>
          </p:nvPr>
        </p:nvSpPr>
        <p:spPr>
          <a:xfrm>
            <a:off x="720000" y="1679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</a:t>
            </a:r>
            <a:r>
              <a:rPr lang="en" dirty="0">
                <a:solidFill>
                  <a:schemeClr val="bg1"/>
                </a:solidFill>
              </a:rPr>
              <a:t>board</a:t>
            </a:r>
            <a:endParaRPr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Complemento 1" title="Microsoft Power BI">
                <a:extLst>
                  <a:ext uri="{FF2B5EF4-FFF2-40B4-BE49-F238E27FC236}">
                    <a16:creationId xmlns:a16="http://schemas.microsoft.com/office/drawing/2014/main" id="{FA5D1CC7-98FA-6D9E-50F7-A6C0B2BE5E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882543"/>
                  </p:ext>
                </p:extLst>
              </p:nvPr>
            </p:nvGraphicFramePr>
            <p:xfrm>
              <a:off x="720000" y="900545"/>
              <a:ext cx="7704000" cy="352366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Complemento 1" title="Microsoft Power BI">
                <a:extLst>
                  <a:ext uri="{FF2B5EF4-FFF2-40B4-BE49-F238E27FC236}">
                    <a16:creationId xmlns:a16="http://schemas.microsoft.com/office/drawing/2014/main" id="{FA5D1CC7-98FA-6D9E-50F7-A6C0B2BE5E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000" y="900545"/>
                <a:ext cx="7704000" cy="352366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Con</a:t>
            </a:r>
            <a:r>
              <a:rPr lang="en" dirty="0"/>
              <a:t>clusiones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564" name="Google Shape;564;p50"/>
          <p:cNvSpPr txBox="1">
            <a:spLocks noGrp="1"/>
          </p:cNvSpPr>
          <p:nvPr>
            <p:ph type="body" idx="1"/>
          </p:nvPr>
        </p:nvSpPr>
        <p:spPr>
          <a:xfrm>
            <a:off x="720000" y="1641162"/>
            <a:ext cx="7704000" cy="27784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El modelo logró clasificar los vehículos en las categorías High y Low, pero su desempeño se vio limitado principalmente por el desbalance de clases presente en los datos.</a:t>
            </a:r>
          </a:p>
          <a:p>
            <a:pPr marL="139700" indent="0">
              <a:buNone/>
            </a:pPr>
            <a:r>
              <a:rPr lang="es-MX" dirty="0">
                <a:solidFill>
                  <a:schemeClr val="tx1"/>
                </a:solidFill>
              </a:rPr>
              <a:t>La clase Low tuvo una representación significativamente mayor, lo que generó un sesgo en las predicciones y afectó la capacidad del modelo para identificar correctamente los casos High.</a:t>
            </a:r>
          </a:p>
          <a:p>
            <a:pPr marL="139700" indent="0">
              <a:buNone/>
            </a:pPr>
            <a:br>
              <a:rPr lang="es-MX" dirty="0">
                <a:solidFill>
                  <a:schemeClr val="tx1"/>
                </a:solidFill>
              </a:rPr>
            </a:br>
            <a:endParaRPr lang="es-MX" dirty="0">
              <a:solidFill>
                <a:schemeClr val="tx1"/>
              </a:solidFill>
            </a:endParaRPr>
          </a:p>
          <a:p>
            <a:r>
              <a:rPr lang="es-MX" dirty="0">
                <a:solidFill>
                  <a:schemeClr val="tx1"/>
                </a:solidFill>
              </a:rPr>
              <a:t>A pesar de aplicar diferentes técnicas de balanceo, el rendimiento del modelo en la clase High no mejoró de manera significativa.</a:t>
            </a:r>
          </a:p>
          <a:p>
            <a:pPr marL="139700" indent="0">
              <a:buNone/>
            </a:pPr>
            <a:r>
              <a:rPr lang="es-MX" dirty="0">
                <a:solidFill>
                  <a:schemeClr val="tx1"/>
                </a:solidFill>
              </a:rPr>
              <a:t>Esto indica que el problema no se debe únicamente a la técnica utilizada, sino a que la distribución del </a:t>
            </a:r>
            <a:r>
              <a:rPr lang="es-MX" dirty="0" err="1">
                <a:solidFill>
                  <a:schemeClr val="tx1"/>
                </a:solidFill>
              </a:rPr>
              <a:t>dataset</a:t>
            </a:r>
            <a:r>
              <a:rPr lang="es-MX" dirty="0">
                <a:solidFill>
                  <a:schemeClr val="tx1"/>
                </a:solidFill>
              </a:rPr>
              <a:t> dificulta la separación natural entre las clases.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>
          <a:extLst>
            <a:ext uri="{FF2B5EF4-FFF2-40B4-BE49-F238E27FC236}">
              <a16:creationId xmlns:a16="http://schemas.microsoft.com/office/drawing/2014/main" id="{56840E65-B391-C270-2CA4-4EC62A87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0">
            <a:extLst>
              <a:ext uri="{FF2B5EF4-FFF2-40B4-BE49-F238E27FC236}">
                <a16:creationId xmlns:a16="http://schemas.microsoft.com/office/drawing/2014/main" id="{E8C5BAAE-084C-9631-0247-F5CEE986F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99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Gracias por su </a:t>
            </a:r>
            <a:r>
              <a:rPr lang="en" dirty="0">
                <a:solidFill>
                  <a:schemeClr val="tx1"/>
                </a:solidFill>
              </a:rPr>
              <a:t>atención!!!</a:t>
            </a:r>
            <a:endParaRPr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89927"/>
      </p:ext>
    </p:extLst>
  </p:cSld>
  <p:clrMapOvr>
    <a:masterClrMapping/>
  </p:clrMapOvr>
</p:sld>
</file>

<file path=ppt/theme/theme1.xml><?xml version="1.0" encoding="utf-8"?>
<a:theme xmlns:a="http://schemas.openxmlformats.org/drawingml/2006/main" name="Luxury Cars Brand MK Campaign by Slidesgo">
  <a:themeElements>
    <a:clrScheme name="Simple Light">
      <a:dk1>
        <a:srgbClr val="000000"/>
      </a:dk1>
      <a:lt1>
        <a:srgbClr val="BD0D0D"/>
      </a:lt1>
      <a:dk2>
        <a:srgbClr val="F7F7F7"/>
      </a:dk2>
      <a:lt2>
        <a:srgbClr val="F1F1F1"/>
      </a:lt2>
      <a:accent1>
        <a:srgbClr val="E4E4E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AD972517-86FE-4720-9DEF-2E75A7900464}">
  <we:reference id="wa200003233" version="2.0.0.3" store="es-ES" storeType="OMEX"/>
  <we:alternateReferences>
    <we:reference id="WA200003233" version="2.0.0.3" store="WA200003233" storeType="OMEX"/>
  </we:alternateReferences>
  <we:properties>
    <we:property name="pptInsertionSessionID" value="&quot;91657E02-5997-49B7-9613-222F17F16AA0&quot;"/>
    <we:property name="reportUrl" value="&quot;/groups/me/reports/e0e6847c-57de-4e7f-bc66-e0c6297a3bd1/d31967d1567c1c404873?experience=power-bi&quot;"/>
    <we:property name="reportName" value="&quot;Dashboard BMW&quot;"/>
    <we:property name="reportState" value="&quot;CONNECTED&quot;"/>
    <we:property name="embedUrl" value="&quot;/reportEmbed?reportId=e0e6847c-57de-4e7f-bc66-e0c6297a3bd1&amp;config=eyJjbHVzdGVyVXJsIjoiaHR0cHM6Ly9XQUJJLVNPVVRILUNFTlRSQUwtVVMtcmVkaXJlY3QuYW5hbHlzaXMud2luZG93cy5uZXQiLCJlbWJlZEZlYXR1cmVzIjp7InVzYWdlTWV0cmljc1ZOZXh0Ijp0cnVlfX0%3D&amp;disableSensitivityBanner=true&amp;storytellingChangeViewModeShortcutKeys=true&quot;"/>
    <we:property name="pageName" value="&quot;d31967d1567c1c404873&quot;"/>
    <we:property name="pageDisplayName" value="&quot;Tablas de datos&quot;"/>
    <we:property name="datasetId" value="&quot;2cf29c05-47e2-48f0-99c9-0a2dd5d55544&quot;"/>
    <we:property name="backgroundColor" value="&quot;#FFFFFF&quot;"/>
    <we:property name="bookmark" value="&quot;H4sIAAAAAAAAA81XUW/TMBD+K5WfQCrITrJm2RvrygsrqtYxhNBUXexLMXLjyHFHy9T/vnMymEDTlCFIeEns8+W77z67d/UtU7quDOzfwwbZCZuDk6CsGwk2ZmVrS3l6XCiZA3LkeYQyyya0aiuvbVmzk1vmwa3RX+l6CyYAkfHz9ZiBMQtYh1kBpsYxq9DVtgSjv2PrTEvebfEwZrirjHUQIJcePAbYG3KnOVEQr2OKCNLrG1yi9K1VxSKbpEocTVIpZMKT4zS41a1Dw+xRlwDdhJ/a0oMuKUywxUmGSgrFjzCGJMliFDLYC238vUu+n+0qR9lRzvsqiDMlrmvrtATDmiwc1i3pWza1ZrtpRrNf7Eu7dRIvsGiWSq/9npAqZyX5oGIH0mPhLKnVLBCMdY3xi/02dUgRFTvhh/FPEm/UDZSSrP+Iwaxck0qrJe3b6vxJJj3I8XaLZnUZwg0pyVwbpLO9ejcfWo+5VWgG1WJB+eHqw/JsaCkucB0+HJjFEgzWq6kBAigokP8POF06KOuNbj8f8qx8Qnisll2Tpdbl2tw3hocafdny8pAbnO1C38m/UoEP5fgQcCJ1lMQ8nQCXIBB4MoGsx6p9Ov84qsOGjxR4GL2IuOCvIh4lLwcr490pDVHXu7PrtdB3p9V75X8Gtb5aQXdKffeG7sx6bRbdaT27e/S+pS3Dq4D+9E9zCPn6bnTdmf3VzkcTp9Cd7puudqbdj0uRGP9Gu6dTQHnQulRFJCKBIollOkGVAecB/+kEcedz+0hrh0JkcpIUkqNMcsklz8SfojWADxa2QbqyhoHd+roCiQsosRGzanPU2PjR2YBSha1qxi68zzX9s2hDX4HZhqjNBZc1Ya7D4w7lAKj+WA8AAA==&quot;"/>
    <we:property name="initialStateBookmark" value="&quot;H4sIAAAAAAAAA81XUW/TMBD+K5WfQCoobrKW7G3rysvWrVrHEEJTdLUvxciNI8cZLVP/O2dnMIGmkSFIeGntz+fvvju7d/Udk6oqNezOYYPskM3BCpDGDjgbsqLBji8uTudHl6fZ+dF8RrApnTJFxQ7vmAO7Rnetqhq0ZyDw482QgdYLWPtZDrrCISvRVqYArb5iY0xLzta4HzLcltpY8JRLBw497S2Z05x889cxeQTh1C0uUbgGlTFPxxPJD8YTwUUSJW8m3qxqDIKyR008dXA/NYUDVZAbj8VJilJwGR1gDEmSxsiFx3Ol3b3Jajfblpaio5h3pc/KlLSujVUCNAtRWKwa0XdsanS9CaPZT/jS1FbgJeZhqXDK7YiptEaQDUq2p3wsrKFshQWiMTaAn8yXqUXyKNlhtB/+EHEkb6EQhP4jBbNiTVnKlnRu2dmTSjpIx9sadXbl3fWZkrnSSHc7O533nY+5kah7zcWC4sPs3fKk71Rc4tpv7FnFEjRW2VQDEeTkyP0Hmq4sFNVGNdv7vCsfEB6rZTeEVKpY6/vG8FCjrxpdDlYaZ1vfd1afqcD7crz3PCN5kMTRZAyRAI4QJWNIO6zax/P3g8of+ECCg8GLUcSjV6NolLzsrYy3l9RHXW+vrtNC315W55X/GdK6agXtJXXdG9or67RZtJf17O7R+ZE2Cq89+9M/zT7S13Wja6/sr3Y+mliJ9ngXutqJst8fRXz4i+yObgHFQetC5iM+4siTWEzGKFOIIs//dIC4dSvzSGuHnKdinOQiQpGsRCSilP8pWyB8QNgG6cnqB6Z2VQkCF1BgSGbZxKgw2NHdgEL6owpj67/PFP2zaFxfg6691/DAZcEJqVF0Yr/Z4J+9LMi68R/fADEgtnSBDwAA&quot;"/>
    <we:property name="isFiltersActionButtonVisible" value="true"/>
    <we:property name="isVisualContainerHeaderHidden" value="false"/>
    <we:property name="reportEmbeddedTime" value="&quot;2025-11-20T23:03:32.759Z&quot;"/>
    <we:property name="creatorTenantId" value="&quot;07da67a0-1f43-4e8c-977f-5f88b6470ee6&quot;"/>
    <we:property name="creatorUserId" value="&quot;10032002140C4379&quot;"/>
    <we:property name="creatorSessionId" value="&quot;966c2402-e750-4562-b101-856c1a829f51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485B394-648B-4123-901C-BDE3CE7F14FF}">
  <we:reference id="wa200003233" version="2.0.0.3" store="es-ES" storeType="OMEX"/>
  <we:alternateReferences>
    <we:reference id="WA200003233" version="2.0.0.3" store="WA200003233" storeType="OMEX"/>
  </we:alternateReferences>
  <we:properties>
    <we:property name="pptInsertionSessionID" value="&quot;91657E02-5997-49B7-9613-222F17F16AA0&quot;"/>
    <we:property name="reportUrl" value="&quot;/groups/me/reports/e0e6847c-57de-4e7f-bc66-e0c6297a3bd1/7d31452307800e367148?experience=power-bi&quot;"/>
    <we:property name="reportName" value="&quot;Dashboard BMW&quot;"/>
    <we:property name="reportState" value="&quot;CONNECTED&quot;"/>
    <we:property name="embedUrl" value="&quot;/reportEmbed?reportId=e0e6847c-57de-4e7f-bc66-e0c6297a3bd1&amp;config=eyJjbHVzdGVyVXJsIjoiaHR0cHM6Ly9XQUJJLVNPVVRILUNFTlRSQUwtVVMtcmVkaXJlY3QuYW5hbHlzaXMud2luZG93cy5uZXQiLCJlbWJlZEZlYXR1cmVzIjp7InVzYWdlTWV0cmljc1ZOZXh0Ijp0cnVlfX0%3D&amp;disableSensitivityBanner=true&amp;storytellingChangeViewModeShortcutKeys=true&quot;"/>
    <we:property name="pageName" value="&quot;7d31452307800e367148&quot;"/>
    <we:property name="pageDisplayName" value="&quot;Página 1&quot;"/>
    <we:property name="datasetId" value="&quot;2cf29c05-47e2-48f0-99c9-0a2dd5d55544&quot;"/>
    <we:property name="backgroundColor" value="&quot;#FFFFFF&quot;"/>
    <we:property name="bookmark" value="&quot;H4sIAAAAAAAAA+VZ227bMAz9lcHPwSDf7b5taYYBa4eg2QYMQxHQEuuqUOxAlrtmRf59lJyu96Qr2s5Zn2JRNHVIHhKUc+4J2cwVLD7DDL0dbx80B1HrN7438KpOxnicBSFkEMUBSxEErWm3nhtZV423c+4Z0CWab7JpQVlDJPxxOPBAqTGUdnUEqsGBN0fd1BUo+Qs7ZdoyusXlwMOzuao1WJMTAwat2VNSpzVB8N+GdCJwI09xgtx00lSEPmEKWZoxhmGS+pEF1nQKDtmdKta0O35YVwZkRcdYGQ/zBMKYZbnIMz8NilgkVn4klVmpFIvR2VyTd+TzYm6DMySsZa0lB+U5LzQ2Hehzb1irduaeRtfkk7rVHA/wyG1VRpoFWTLYmCmpCbmCv6SwjHVNQXP7B1ja9630uP451EgnC2+HLQd/wLwTp1Bxkt5E8q4sNZZgVsvRM8IcUyxw+nWy6zY+tNUqW/5t4IckaWRVqhUbLhPzpfOnAD08Bm0s24oTSqtNAr1Ua4H6/cLlYVfqC0IEgxse9MPt5eEFdUn/5Ao5V9zp/Hgmshwu7Q7LBEZJHiVIFZxHEQtDsPbWRl/OqHivh97ZinkSpJAmmBQ+S0NGxbWxTO5l5lO7DWo6VNA0va+TG1AvGRP/34Wyzu9/UylX8HTVkh8FhR/mPLAk5wXEHHlfGD7utlBsCc3vwvtquL7R+X9B+NugOtaHkc/Qz4osYH6Uh1HEAfvC+i3q6085/3CHbHvY3rMR6FZjZ0GcZQkWUeyLLBAswzR7PMX7Edp+V8OoKul+NZ3QjW+69yTgX21j2ZcKaSCfftr/mzi+3P30Q4tq6hrXYzqdahsqQRTDrWp563LSk57HM5bFdPmLiywWLBU53d029ryXYw1Zq3Xva29dG2P9L79+BfPeoulJJPdrgar3UVx/t1gbyn7Av3ui2QLgdQGFVKQ9/SjL423Df+/3l55U3wM+c78cmC8aqmYmOyt9z+x3BL05pxtHMQOFwtHZA6cv/+b09UxscNOM3bwE5c1Ql+4TRd2aZg4cx1ChAzjvLEh0epQRqIR13z1r+7snafrpvP8GqrWOuz+pPHeMO+w3ESCW/xwbAAA=&quot;"/>
    <we:property name="initialStateBookmark" value="&quot;H4sIAAAAAAAAA+VZ227bMAz9lcHPwSDf7b61aYYBXbag2QoMQ2HQFutqUOxAlrtmRf59lJyu96Qr2s7ZnmxTNHVIHhKUfeFw0cwlLD7CDJ0dZwyqAF6rN64zcKpOtvfp08F49/Ag+7g7HpG4nmtRV42zc+FoUCXqI9G0II0FEn47Hjgg5QRK83QCssGBM0fV1BVI8RM7ZVrSqsXlwMHzuawVGJNTDRqN2TNSp2fa233r045QaHGGUyx0J4257wah57M4YQz9KHaDhNSaTsEiu1fFmLbbD+tKg6hoGyMr/DQCP2RJytPEjb085JGRnwipVyr5YnQ+V+Qd+byYm6gMCWtZK1GAdKwXCpsO9IUzrGU7s3ejG/Jp3aoCD/HELlVa6AVZ0tjojNS4WMFfUlgmqqag2fVDLM37Rnpa/xgqpJ25s8OWg99gdvkZVAVJbyPZLUuFJejV4+gFYU4oFph9me7bhXdttcqWexf4MUkaUZVyxYarxHzu/MlBDU9BacO2/Dul1SSBXqoVR7W3sHnYF+qSEN7glgf9cHt5fEld0v9+jZwr7nR+vBBZjpdmhSUcgygNIvRYnAYB830w9tZGX8yoeG+G3toKi8iLIY4wyl0W+4yKa2OZPMjM53YbZDaU0DS9r5NbUK8YE/7bhbLO779TKdfwdNWSnni566eFZ0he5BAWWPSF4ZNuCfmW0Pw+vP8N1zc6/zcIfxdUx3o/cBm6SZ54zA1SPwgKwL6wfov6+nPOP4VFtj1s79kIdKexMy9MkgjzIHR54nGWYJw8neL9CG2/q2FUlXS+yqZ04ss+PAv4/7axjIVEGsizg/GfxPH1zqfvWpSZbVxP6XSybagEkQ+3quWty0lPel6RsCSkw1+YJyFnMU/p7Lax570ea8harXpfe+vaGOt/+fUrmA8WTU8iOa45yt5Hcf3ZYm0o+wH//olmC4DXOeRCknb2XpSn24b/we8vPam+R3zmfj0wnxVUzUx0Vvqe2a8IanNON45iGnKJo/NHTl/u7enrhdhgpxmzeAXKmaEq7SeKutXNHAqcQIUW4LyzINDqUUag4sZ9e6/M9YOg6afz/ghkaxy3P6kcuwkFRFAUNrxgfl05FpYF9wurAMseRRsAAA==&quot;"/>
    <we:property name="isFiltersActionButtonVisible" value="true"/>
    <we:property name="isVisualContainerHeaderHidden" value="false"/>
    <we:property name="reportEmbeddedTime" value="&quot;2025-11-20T23:04:24.372Z&quot;"/>
    <we:property name="creatorTenantId" value="&quot;07da67a0-1f43-4e8c-977f-5f88b6470ee6&quot;"/>
    <we:property name="creatorUserId" value="&quot;10032002140C4379&quot;"/>
    <we:property name="creatorSessionId" value="&quot;8649f77d-63a2-4409-91df-ad90e00f7d94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587</Words>
  <Application>Microsoft Office PowerPoint</Application>
  <PresentationFormat>Presentación en pantalla (16:9)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Alata</vt:lpstr>
      <vt:lpstr>Montserrat</vt:lpstr>
      <vt:lpstr>Maven Pro</vt:lpstr>
      <vt:lpstr>Arial</vt:lpstr>
      <vt:lpstr>Assistant</vt:lpstr>
      <vt:lpstr>Luxury Cars Brand MK Campaign by Slidesgo</vt:lpstr>
      <vt:lpstr>Modelado predictivo para vehiculos BMW</vt:lpstr>
      <vt:lpstr>Presentación de PowerPoint</vt:lpstr>
      <vt:lpstr>Datasets</vt:lpstr>
      <vt:lpstr>Patrones Identificados</vt:lpstr>
      <vt:lpstr>Preparacion del Modelo </vt:lpstr>
      <vt:lpstr>Entrenamiento del Modelo</vt:lpstr>
      <vt:lpstr>Evaluación del Modelo</vt:lpstr>
      <vt:lpstr>Dashboard</vt:lpstr>
      <vt:lpstr>Conclusiones</vt:lpstr>
      <vt:lpstr>Gracias por su atención!!!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Jaider González González</dc:creator>
  <cp:lastModifiedBy>JAIDER ORLANDO GONZALEZ GONZALEZ</cp:lastModifiedBy>
  <cp:revision>4</cp:revision>
  <dcterms:modified xsi:type="dcterms:W3CDTF">2025-11-20T23:08:58Z</dcterms:modified>
</cp:coreProperties>
</file>